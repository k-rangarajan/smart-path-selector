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traditional routing protocols pick paths from fixed numbers. This project predicts how good each path will actually be, and routes on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RIP counts hops. OSPF uses a configured cost tied to bandwidth. BGP follows business policy. None of them measure what the path is doing right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concrete case: the 10 Gbps backbone is shorter and cheaper by OSPF cost, but it is carrying a traffic spike. Traditional routing keeps sending traffic into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a fixed metric, a model trained on measured metrics outputs a 0–100 quality score per candidate path. The recommendation engine picks the best one. Scores shown are an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stages from simulation to dashboard. RIP, OSPF and BGP decision logic run on the same topology and traffic so the comparison is fair. Packet Tracer is used to sanity-check on a real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Inputs are the metrics a router can measure with probes. The target is the quality the path actually delivers in the next interval, so the model is predicting, not just re-computing.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regression will be used as a comparison point; it cannot represent the sharp degradation near saturation.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5852160" y="731520"/>
            <a:ext cx="1097280" cy="365760"/>
          </a:xfrm>
          <a:prstGeom prst="line">
            <a:avLst/>
          </a:prstGeom>
          <a:noFill/>
          <a:ln w="19050">
            <a:solidFill>
              <a:srgbClr val="2F52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731520"/>
            <a:ext cx="1188720" cy="548640"/>
          </a:xfrm>
          <a:prstGeom prst="line">
            <a:avLst/>
          </a:prstGeom>
          <a:noFill/>
          <a:ln w="19050">
            <a:solidFill>
              <a:srgbClr val="2F52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1097280"/>
            <a:ext cx="731520" cy="914400"/>
          </a:xfrm>
          <a:prstGeom prst="line">
            <a:avLst/>
          </a:prstGeom>
          <a:noFill/>
          <a:ln w="19050">
            <a:solidFill>
              <a:srgbClr val="2F52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6583680" y="731520"/>
            <a:ext cx="365760" cy="1280160"/>
          </a:xfrm>
          <a:prstGeom prst="line">
            <a:avLst/>
          </a:prstGeom>
          <a:noFill/>
          <a:ln w="19050">
            <a:solidFill>
              <a:srgbClr val="2F52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2011680"/>
            <a:ext cx="1097280" cy="365760"/>
          </a:xfrm>
          <a:prstGeom prst="line">
            <a:avLst/>
          </a:prstGeom>
          <a:noFill/>
          <a:ln w="19050">
            <a:solidFill>
              <a:srgbClr val="2F52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1280160"/>
            <a:ext cx="457200" cy="914400"/>
          </a:xfrm>
          <a:prstGeom prst="line">
            <a:avLst/>
          </a:prstGeom>
          <a:noFill/>
          <a:ln w="19050">
            <a:solidFill>
              <a:srgbClr val="2F52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7680960" y="2194560"/>
            <a:ext cx="914400" cy="182880"/>
          </a:xfrm>
          <a:prstGeom prst="line">
            <a:avLst/>
          </a:prstGeom>
          <a:noFill/>
          <a:ln w="19050">
            <a:solidFill>
              <a:srgbClr val="2F52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6035040" y="2011680"/>
            <a:ext cx="548640" cy="914400"/>
          </a:xfrm>
          <a:prstGeom prst="line">
            <a:avLst/>
          </a:prstGeom>
          <a:noFill/>
          <a:ln w="19050">
            <a:solidFill>
              <a:srgbClr val="2F52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2926080"/>
            <a:ext cx="1188720" cy="457200"/>
          </a:xfrm>
          <a:prstGeom prst="line">
            <a:avLst/>
          </a:prstGeom>
          <a:noFill/>
          <a:ln w="19050">
            <a:solidFill>
              <a:srgbClr val="2F5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7223760" y="2377440"/>
            <a:ext cx="457200" cy="1005840"/>
          </a:xfrm>
          <a:prstGeom prst="line">
            <a:avLst/>
          </a:prstGeom>
          <a:noFill/>
          <a:ln w="19050">
            <a:solidFill>
              <a:srgbClr val="2F52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0" y="3383280"/>
            <a:ext cx="1097280" cy="182880"/>
          </a:xfrm>
          <a:prstGeom prst="line">
            <a:avLst/>
          </a:prstGeom>
          <a:noFill/>
          <a:ln w="19050">
            <a:solidFill>
              <a:srgbClr val="2F52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8321040" y="2194560"/>
            <a:ext cx="274320" cy="1371600"/>
          </a:xfrm>
          <a:prstGeom prst="line">
            <a:avLst/>
          </a:prstGeom>
          <a:noFill/>
          <a:ln w="19050">
            <a:solidFill>
              <a:srgbClr val="2F52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42432" y="987552"/>
            <a:ext cx="219456" cy="219456"/>
          </a:xfrm>
          <a:prstGeom prst="ellipse">
            <a:avLst/>
          </a:prstGeom>
          <a:solidFill>
            <a:srgbClr val="2F5256"/>
          </a:solidFill>
          <a:ln w="12700">
            <a:solidFill>
              <a:srgbClr val="2F52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39712" y="621792"/>
            <a:ext cx="219456" cy="219456"/>
          </a:xfrm>
          <a:prstGeom prst="ellipse">
            <a:avLst/>
          </a:prstGeom>
          <a:solidFill>
            <a:srgbClr val="2F5256"/>
          </a:solidFill>
          <a:ln w="12700">
            <a:solidFill>
              <a:srgbClr val="2F52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8432" y="1170432"/>
            <a:ext cx="219456" cy="219456"/>
          </a:xfrm>
          <a:prstGeom prst="ellipse">
            <a:avLst/>
          </a:prstGeom>
          <a:solidFill>
            <a:srgbClr val="2F5256"/>
          </a:solidFill>
          <a:ln w="12700">
            <a:solidFill>
              <a:srgbClr val="2F52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1901952"/>
            <a:ext cx="219456" cy="219456"/>
          </a:xfrm>
          <a:prstGeom prst="ellipse">
            <a:avLst/>
          </a:prstGeom>
          <a:solidFill>
            <a:srgbClr val="2F5256"/>
          </a:solidFill>
          <a:ln w="12700">
            <a:solidFill>
              <a:srgbClr val="2F52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71232" y="2267712"/>
            <a:ext cx="219456" cy="219456"/>
          </a:xfrm>
          <a:prstGeom prst="ellipse">
            <a:avLst/>
          </a:prstGeom>
          <a:solidFill>
            <a:srgbClr val="2F5256"/>
          </a:solidFill>
          <a:ln w="12700">
            <a:solidFill>
              <a:srgbClr val="2F525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85632" y="2084832"/>
            <a:ext cx="219456" cy="219456"/>
          </a:xfrm>
          <a:prstGeom prst="ellipse">
            <a:avLst/>
          </a:prstGeom>
          <a:solidFill>
            <a:srgbClr val="2F5256"/>
          </a:solidFill>
          <a:ln w="12700">
            <a:solidFill>
              <a:srgbClr val="2F52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25312" y="2816352"/>
            <a:ext cx="219456" cy="219456"/>
          </a:xfrm>
          <a:prstGeom prst="ellipse">
            <a:avLst/>
          </a:prstGeom>
          <a:solidFill>
            <a:srgbClr val="2F5256"/>
          </a:solidFill>
          <a:ln w="12700">
            <a:solidFill>
              <a:srgbClr val="2F52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14032" y="3273552"/>
            <a:ext cx="219456" cy="219456"/>
          </a:xfrm>
          <a:prstGeom prst="ellipse">
            <a:avLst/>
          </a:prstGeom>
          <a:solidFill>
            <a:srgbClr val="2F5256"/>
          </a:solidFill>
          <a:ln w="12700">
            <a:solidFill>
              <a:srgbClr val="2F52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11312" y="3456432"/>
            <a:ext cx="219456" cy="219456"/>
          </a:xfrm>
          <a:prstGeom prst="ellipse">
            <a:avLst/>
          </a:prstGeom>
          <a:solidFill>
            <a:srgbClr val="2F5256"/>
          </a:solidFill>
          <a:ln w="12700">
            <a:solidFill>
              <a:srgbClr val="2F52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2160" y="1097280"/>
            <a:ext cx="731520" cy="914400"/>
          </a:xfrm>
          <a:prstGeom prst="line">
            <a:avLst/>
          </a:prstGeom>
          <a:noFill/>
          <a:ln w="38100">
            <a:solidFill>
              <a:srgbClr val="7FD1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2011680"/>
            <a:ext cx="1097280" cy="365760"/>
          </a:xfrm>
          <a:prstGeom prst="line">
            <a:avLst/>
          </a:prstGeom>
          <a:noFill/>
          <a:ln w="38100">
            <a:solidFill>
              <a:srgbClr val="7FD1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7680960" y="2194560"/>
            <a:ext cx="914400" cy="182880"/>
          </a:xfrm>
          <a:prstGeom prst="line">
            <a:avLst/>
          </a:prstGeom>
          <a:noFill/>
          <a:ln w="38100">
            <a:solidFill>
              <a:srgbClr val="7FD1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24144" y="969264"/>
            <a:ext cx="256032" cy="256032"/>
          </a:xfrm>
          <a:prstGeom prst="ellipse">
            <a:avLst/>
          </a:prstGeom>
          <a:solidFill>
            <a:srgbClr val="7FD1C7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55664" y="1883664"/>
            <a:ext cx="256032" cy="256032"/>
          </a:xfrm>
          <a:prstGeom prst="ellipse">
            <a:avLst/>
          </a:prstGeom>
          <a:solidFill>
            <a:srgbClr val="7FD1C7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52944" y="2249424"/>
            <a:ext cx="256032" cy="256032"/>
          </a:xfrm>
          <a:prstGeom prst="ellipse">
            <a:avLst/>
          </a:prstGeom>
          <a:solidFill>
            <a:srgbClr val="7FD1C7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67344" y="2066544"/>
            <a:ext cx="256032" cy="256032"/>
          </a:xfrm>
          <a:prstGeom prst="ellipse">
            <a:avLst/>
          </a:prstGeom>
          <a:solidFill>
            <a:srgbClr val="7FD1C7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1143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1 · PROJECT OVERVIEW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146304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Router Path Selection using Machine Learning</a:t>
            </a:r>
            <a:endParaRPr lang="en-US" sz="3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on predicted path quality instead of static metrics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github.com/K-RANGARAJAN/smart-path-selector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protocols decide on static numbers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6B7FA3"/>
          </a:solidFill>
          <a:ln w="12700">
            <a:solidFill>
              <a:srgbClr val="6B7FA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488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350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count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651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 routers wins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2918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49300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speed, load, delay, loss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8016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508760"/>
            <a:ext cx="457200" cy="457200"/>
          </a:xfrm>
          <a:prstGeom prst="ellipse">
            <a:avLst/>
          </a:prstGeom>
          <a:solidFill>
            <a:srgbClr val="C9621A"/>
          </a:solidFill>
          <a:ln w="12700">
            <a:solidFill>
              <a:srgbClr val="C9621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204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OSPF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21488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2350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cost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2651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bandwidth ÷ link bandwidth, Dijkstra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32918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349300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— the cost never changes at runtime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128016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1508760"/>
            <a:ext cx="457200" cy="457200"/>
          </a:xfrm>
          <a:prstGeom prst="ellipse">
            <a:avLst/>
          </a:prstGeom>
          <a:solidFill>
            <a:srgbClr val="8C8A3E"/>
          </a:solidFill>
          <a:ln w="12700">
            <a:solidFill>
              <a:srgbClr val="8C8A3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55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BGP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21488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ON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2350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C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AS-path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355080" y="2651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preference, shortest AS path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32918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349300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of the path altogether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1 · Project overview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“Best” on paper, worst in practice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 flipH="1">
            <a:off x="914400" y="1737360"/>
            <a:ext cx="822960" cy="914400"/>
          </a:xfrm>
          <a:prstGeom prst="line">
            <a:avLst/>
          </a:prstGeom>
          <a:noFill/>
          <a:ln w="50800">
            <a:solidFill>
              <a:srgbClr val="D982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1737360"/>
            <a:ext cx="1005840" cy="914"/>
          </a:xfrm>
          <a:prstGeom prst="line">
            <a:avLst/>
          </a:prstGeom>
          <a:noFill/>
          <a:ln w="50800">
            <a:solidFill>
              <a:srgbClr val="D982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1737360"/>
            <a:ext cx="914400" cy="914"/>
          </a:xfrm>
          <a:prstGeom prst="line">
            <a:avLst/>
          </a:prstGeom>
          <a:noFill/>
          <a:ln w="50800">
            <a:solidFill>
              <a:srgbClr val="D982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1737360"/>
            <a:ext cx="822960" cy="914400"/>
          </a:xfrm>
          <a:prstGeom prst="line">
            <a:avLst/>
          </a:prstGeom>
          <a:noFill/>
          <a:ln w="50800">
            <a:solidFill>
              <a:srgbClr val="D982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532888"/>
            <a:ext cx="237744" cy="237744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18488" y="1618488"/>
            <a:ext cx="237744" cy="237744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24328" y="1618488"/>
            <a:ext cx="237744" cy="237744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38728" y="1618488"/>
            <a:ext cx="237744" cy="237744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2532888"/>
            <a:ext cx="237744" cy="237744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44168" y="3447288"/>
            <a:ext cx="237744" cy="237744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67128" y="3813048"/>
            <a:ext cx="237744" cy="237744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90088" y="3813048"/>
            <a:ext cx="237744" cy="237744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13048" y="3447288"/>
            <a:ext cx="237744" cy="237744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2651760"/>
            <a:ext cx="548640" cy="914400"/>
          </a:xfrm>
          <a:prstGeom prst="line">
            <a:avLst/>
          </a:prstGeom>
          <a:noFill/>
          <a:ln w="50800">
            <a:solidFill>
              <a:srgbClr val="0B7A7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63040" y="3566160"/>
            <a:ext cx="822960" cy="365760"/>
          </a:xfrm>
          <a:prstGeom prst="line">
            <a:avLst/>
          </a:prstGeom>
          <a:noFill/>
          <a:ln w="50800">
            <a:solidFill>
              <a:srgbClr val="0B7A7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3931920"/>
            <a:ext cx="822960" cy="914"/>
          </a:xfrm>
          <a:prstGeom prst="line">
            <a:avLst/>
          </a:prstGeom>
          <a:noFill/>
          <a:ln w="50800">
            <a:solidFill>
              <a:srgbClr val="0B7A7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3108960" y="3566160"/>
            <a:ext cx="822960" cy="365760"/>
          </a:xfrm>
          <a:prstGeom prst="line">
            <a:avLst/>
          </a:prstGeom>
          <a:noFill/>
          <a:ln w="50800">
            <a:solidFill>
              <a:srgbClr val="0B7A7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3931920" y="2651760"/>
            <a:ext cx="548640" cy="914400"/>
          </a:xfrm>
          <a:prstGeom prst="line">
            <a:avLst/>
          </a:prstGeom>
          <a:noFill/>
          <a:ln w="50800">
            <a:solidFill>
              <a:srgbClr val="0B7A7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" y="2532888"/>
            <a:ext cx="237744" cy="237744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18488" y="1618488"/>
            <a:ext cx="237744" cy="237744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4328" y="1618488"/>
            <a:ext cx="237744" cy="237744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38728" y="1618488"/>
            <a:ext cx="237744" cy="237744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61688" y="2532888"/>
            <a:ext cx="237744" cy="237744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44168" y="3447288"/>
            <a:ext cx="237744" cy="237744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67128" y="3813048"/>
            <a:ext cx="237744" cy="237744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90088" y="3813048"/>
            <a:ext cx="237744" cy="237744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13048" y="3447288"/>
            <a:ext cx="237744" cy="237744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2920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709160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46304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hops · 10 Gbps · congested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46304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hops · 1 Gbps · idle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0" y="128016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715000" y="1444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protocols pick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71500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amber path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5715000" y="202996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hops (RIP) and lower cost (OSPF), even while it drops packets.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486400" y="283464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715000" y="29992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say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71500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teal path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5715000" y="358444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on paper, but lower delay and no loss right now.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45765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scenario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1 · Project overview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each path’s real quality, then route on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75104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751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bandwidth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578608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5786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loss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82112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1821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85616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7856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count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434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metrics per candidate path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34640" y="2514600"/>
            <a:ext cx="548640" cy="411480"/>
          </a:xfrm>
          <a:prstGeom prst="rightArrow">
            <a:avLst/>
          </a:prstGeom>
          <a:solidFill>
            <a:srgbClr val="D5DBE0"/>
          </a:solidFill>
          <a:ln w="12700">
            <a:solidFill>
              <a:srgbClr val="D5DB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1828800"/>
            <a:ext cx="2103120" cy="1783080"/>
          </a:xfrm>
          <a:prstGeom prst="roundRect">
            <a:avLst>
              <a:gd name="adj" fmla="val 5128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03320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regression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how metrics translate into next-interval quality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0" y="2514600"/>
            <a:ext cx="548640" cy="411480"/>
          </a:xfrm>
          <a:prstGeom prst="rightArrow">
            <a:avLst/>
          </a:prstGeom>
          <a:solidFill>
            <a:srgbClr val="D5DBE0"/>
          </a:solidFill>
          <a:ln w="12700">
            <a:solidFill>
              <a:srgbClr val="D5DB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per path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20116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23760" y="2084832"/>
            <a:ext cx="1248156" cy="219456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1763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2578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23760" y="2651760"/>
            <a:ext cx="1014984" cy="219456"/>
          </a:xfrm>
          <a:prstGeom prst="rect">
            <a:avLst/>
          </a:prstGeom>
          <a:solidFill>
            <a:srgbClr val="5F6B76"/>
          </a:solidFill>
          <a:ln w="12700">
            <a:solidFill>
              <a:srgbClr val="5F6B7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84464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31455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23760" y="3218688"/>
            <a:ext cx="521208" cy="219456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90688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score is recommended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1 · Project overview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481328" cy="1737360"/>
          </a:xfrm>
          <a:prstGeom prst="roundRect">
            <a:avLst>
              <a:gd name="adj" fmla="val 4938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329184" cy="329184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574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simulator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51460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Multi-AS topology, time-varying traffic, congestion events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56816" y="2240280"/>
            <a:ext cx="146304" cy="182880"/>
          </a:xfrm>
          <a:prstGeom prst="rightArrow">
            <a:avLst/>
          </a:prstGeom>
          <a:solidFill>
            <a:srgbClr val="5F6B76"/>
          </a:solidFill>
          <a:ln w="12700">
            <a:solidFill>
              <a:srgbClr val="5F6B7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21408" y="1463040"/>
            <a:ext cx="1481328" cy="1737360"/>
          </a:xfrm>
          <a:prstGeom prst="roundRect">
            <a:avLst>
              <a:gd name="adj" fmla="val 4938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58568" y="1600200"/>
            <a:ext cx="329184" cy="329184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58568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2258568" y="20574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258568" y="251460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metrics now → realised quality next interval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21024" y="2240280"/>
            <a:ext cx="146304" cy="182880"/>
          </a:xfrm>
          <a:prstGeom prst="rightArrow">
            <a:avLst/>
          </a:prstGeom>
          <a:solidFill>
            <a:srgbClr val="5F6B76"/>
          </a:solidFill>
          <a:ln w="12700">
            <a:solidFill>
              <a:srgbClr val="5F6B7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85616" y="1463040"/>
            <a:ext cx="1481328" cy="1737360"/>
          </a:xfrm>
          <a:prstGeom prst="roundRect">
            <a:avLst>
              <a:gd name="adj" fmla="val 4938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22776" y="1600200"/>
            <a:ext cx="329184" cy="329184"/>
          </a:xfrm>
          <a:prstGeom prst="ellipse">
            <a:avLst/>
          </a:prstGeom>
          <a:solidFill>
            <a:srgbClr val="0E2326"/>
          </a:solidFill>
          <a:ln w="12700">
            <a:solidFill>
              <a:srgbClr val="0E23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22776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9" name="Text 17"/>
          <p:cNvSpPr txBox="1"/>
          <p:nvPr/>
        </p:nvSpPr>
        <p:spPr>
          <a:xfrm>
            <a:off x="3922776" y="20574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922776" y="251460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regressor, quality score 0–100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85232" y="2240280"/>
            <a:ext cx="146304" cy="182880"/>
          </a:xfrm>
          <a:prstGeom prst="rightArrow">
            <a:avLst/>
          </a:prstGeom>
          <a:solidFill>
            <a:srgbClr val="5F6B76"/>
          </a:solidFill>
          <a:ln w="12700">
            <a:solidFill>
              <a:srgbClr val="5F6B7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49824" y="1463040"/>
            <a:ext cx="1481328" cy="1737360"/>
          </a:xfrm>
          <a:prstGeom prst="roundRect">
            <a:avLst>
              <a:gd name="adj" fmla="val 4938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86984" y="1600200"/>
            <a:ext cx="329184" cy="329184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86984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80" dirty="0"/>
          </a:p>
        </p:txBody>
      </p:sp>
      <p:sp>
        <p:nvSpPr>
          <p:cNvPr id="25" name="Text 23"/>
          <p:cNvSpPr txBox="1"/>
          <p:nvPr/>
        </p:nvSpPr>
        <p:spPr>
          <a:xfrm>
            <a:off x="5586984" y="20574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recommender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586984" y="251460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candidates, picks best, avoids flapping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49440" y="2240280"/>
            <a:ext cx="146304" cy="182880"/>
          </a:xfrm>
          <a:prstGeom prst="rightArrow">
            <a:avLst/>
          </a:prstGeom>
          <a:solidFill>
            <a:srgbClr val="5F6B76"/>
          </a:solidFill>
          <a:ln w="12700">
            <a:solidFill>
              <a:srgbClr val="5F6B7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14032" y="1463040"/>
            <a:ext cx="1481328" cy="1737360"/>
          </a:xfrm>
          <a:prstGeom prst="roundRect">
            <a:avLst>
              <a:gd name="adj" fmla="val 4938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51192" y="1600200"/>
            <a:ext cx="329184" cy="329184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51192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80" dirty="0"/>
          </a:p>
        </p:txBody>
      </p:sp>
      <p:sp>
        <p:nvSpPr>
          <p:cNvPr id="31" name="Text 29"/>
          <p:cNvSpPr txBox="1"/>
          <p:nvPr/>
        </p:nvSpPr>
        <p:spPr>
          <a:xfrm>
            <a:off x="7251192" y="20574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251192" y="251460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metrics, scores and decisions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47472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3584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on the same topology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3977640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6B7FA3"/>
          </a:solidFill>
          <a:ln w="12700">
            <a:solidFill>
              <a:srgbClr val="6B7FA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39776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737360" y="3977640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C9621A"/>
          </a:solidFill>
          <a:ln w="12700">
            <a:solidFill>
              <a:srgbClr val="C9621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737360" y="39776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834640" y="3977640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8C8A3E"/>
          </a:solidFill>
          <a:ln w="12700">
            <a:solidFill>
              <a:srgbClr val="8C8A3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834640" y="39776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BGP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397764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on identical traffic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577840" y="347472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76072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(optional)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5760720" y="38862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Packet Tracer ping / tracert outputs scored by the trained model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1 · Project overview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sees, and what it predicts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120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7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delay: propagation + queueing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bandwidth (Mbps)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Spare capacity at the path’s bottleneck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 loss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Probes lost along the 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Jitter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Variation in delay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Hop 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links — what RIP uses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since the last measurement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280160"/>
            <a:ext cx="2834640" cy="2697480"/>
          </a:xfrm>
          <a:prstGeom prst="roundRect">
            <a:avLst>
              <a:gd name="adj" fmla="val 2712"/>
            </a:avLst>
          </a:prstGeom>
          <a:solidFill>
            <a:srgbClr val="0E2326"/>
          </a:solidFill>
          <a:ln w="12700">
            <a:solidFill>
              <a:srgbClr val="0E232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80760" y="1508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F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0–100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quality score in the next interval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30632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delay, jitter and loss (ITU-T G.107 E-model) with whether the path has enough bandwidth for the flow.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1 · Project overview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Random Forest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411480" cy="41148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Non-linear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9385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and delay explode as a link nears saturation; trees capture thresholds without hand-tuning.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554480"/>
            <a:ext cx="411480" cy="41148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 to noise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19385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many trees smooths noisy probe measurements.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154680"/>
            <a:ext cx="411480" cy="41148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5387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 handful of paths takes well under a millisecond.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3154680"/>
            <a:ext cx="411480" cy="41148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35387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shows which metrics drive decisions.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1 · Project overview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success will be measured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36192"/>
            <a:ext cx="201168" cy="20116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accuracy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on unseen traffic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linear regression and a no-ML formula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536192"/>
            <a:ext cx="201168" cy="20116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quality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01168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realised path quality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and packet loss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time with poor quality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changes (stability)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strategy — ML, RIP, OSPF, BGP — routes the same flows through the same simulated traffic.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1 · Project overview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plan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&amp; pipeline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762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1762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topology, paths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151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26151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30540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4930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34930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Tracer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920240" y="3931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98264" y="1965960"/>
            <a:ext cx="0" cy="2103120"/>
          </a:xfrm>
          <a:prstGeom prst="line">
            <a:avLst/>
          </a:prstGeom>
          <a:noFill/>
          <a:ln w="25400">
            <a:solidFill>
              <a:srgbClr val="D5DB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0" y="1783080"/>
            <a:ext cx="384048" cy="38404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062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6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1764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1  ·  Now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2057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design, plan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06240" y="2743200"/>
            <a:ext cx="384048" cy="384048"/>
          </a:xfrm>
          <a:prstGeom prst="ellipse">
            <a:avLst/>
          </a:prstGeom>
          <a:solidFill>
            <a:srgbClr val="5F6B76"/>
          </a:solidFill>
          <a:ln w="12700">
            <a:solidFill>
              <a:srgbClr val="5F6B7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0624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6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2  ·  50%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3017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Simulator, dataset, protocol baselines, trained model &amp; metrics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06240" y="3703320"/>
            <a:ext cx="384048" cy="384048"/>
          </a:xfrm>
          <a:prstGeom prst="ellipse">
            <a:avLst/>
          </a:prstGeom>
          <a:solidFill>
            <a:srgbClr val="5F6B76"/>
          </a:solidFill>
          <a:ln w="12700">
            <a:solidFill>
              <a:srgbClr val="5F6B7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0624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4800600" y="3685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 ·  100%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800600" y="3977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engine, full evaluation, live dashboard demo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1 · Project overview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Routes that follow real network conditions, with measurable gains over RIP, OSPF and BGP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3154680"/>
            <a:ext cx="164592" cy="164592"/>
          </a:xfrm>
          <a:prstGeom prst="ellipse">
            <a:avLst/>
          </a:prstGeom>
          <a:solidFill>
            <a:srgbClr val="7FD1C7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0449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average path quality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3154680"/>
            <a:ext cx="164592" cy="164592"/>
          </a:xfrm>
          <a:prstGeom prst="ellipse">
            <a:avLst/>
          </a:prstGeom>
          <a:solidFill>
            <a:srgbClr val="7FD1C7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30449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on congested paths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35040" y="3154680"/>
            <a:ext cx="164592" cy="164592"/>
          </a:xfrm>
          <a:prstGeom prst="ellipse">
            <a:avLst/>
          </a:prstGeom>
          <a:solidFill>
            <a:srgbClr val="7FD1C7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30449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routing without flapping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Router Path Selection using ML — DA 1</dc:title>
  <dc:subject>PptxGenJS Presentation</dc:subject>
  <dc:creator>PptxGenJS</dc:creator>
  <cp:lastModifiedBy>PptxGenJS</cp:lastModifiedBy>
  <cp:revision>1</cp:revision>
  <dcterms:created xsi:type="dcterms:W3CDTF">2026-09-17T16:41:17Z</dcterms:created>
  <dcterms:modified xsi:type="dcterms:W3CDTF">2026-09-17T16:41:17Z</dcterms:modified>
</cp:coreProperties>
</file>