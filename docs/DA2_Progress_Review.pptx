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933"/>
                </a:solidFill>
                <a:latin typeface="Calibri"/>
              </a:rPr>
              <a:t>R² on unseen traffic (higher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5F6B7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F6B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6C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7A7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Formula (no ML)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0.7858453365727087</c:v>
                </c:pt>
                <c:pt idx="1">
                  <c:v>0.8758434538334977</c:v>
                </c:pt>
                <c:pt idx="2">
                  <c:v>0.8970312422958717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F2933"/>
                </a:solidFill>
                <a:latin typeface="Calibri"/>
              </a:rPr>
              <a:t>Permutation importance (drop in R² when shuffled)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Hop count</c:v>
                  </c:pt>
                  <c:pt idx="1">
                    <c:v>Loss trend</c:v>
                  </c:pt>
                  <c:pt idx="2">
                    <c:v>Latency trend</c:v>
                  </c:pt>
                  <c:pt idx="3">
                    <c:v>Bottleneck capacity</c:v>
                  </c:pt>
                  <c:pt idx="4">
                    <c:v>Bandwidth trend</c:v>
                  </c:pt>
                  <c:pt idx="5">
                    <c:v>Jitter</c:v>
                  </c:pt>
                  <c:pt idx="6">
                    <c:v>Packet loss</c:v>
                  </c:pt>
                  <c:pt idx="7">
                    <c:v>Available bandwidth</c:v>
                  </c:pt>
                  <c:pt idx="8">
                    <c:v>Latency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0.00014484770845377693</c:v>
                </c:pt>
                <c:pt idx="1">
                  <c:v>0.0008092215302224481</c:v>
                </c:pt>
                <c:pt idx="2">
                  <c:v>0.0033281102403286632</c:v>
                </c:pt>
                <c:pt idx="3">
                  <c:v>0.005264859610434725</c:v>
                </c:pt>
                <c:pt idx="4">
                  <c:v>0.009330441319004424</c:v>
                </c:pt>
                <c:pt idx="5">
                  <c:v>0.04267080206958247</c:v>
                </c:pt>
                <c:pt idx="6">
                  <c:v>0.06057227565533576</c:v>
                </c:pt>
                <c:pt idx="7">
                  <c:v>0.18712738924457145</c:v>
                </c:pt>
                <c:pt idx="8">
                  <c:v>0.27456439399577587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F2933"/>
                </a:solidFill>
                <a:latin typeface="Calibri"/>
              </a:rPr>
              <a:t>Mean next-tick quality on unseen traffic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RIP</c:v>
                </c:pt>
              </c:strCache>
            </c:strRef>
          </c:tx>
          <c:spPr>
            <a:solidFill>
              <a:srgbClr val="6B7F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R1→R11</c:v>
                  </c:pt>
                  <c:pt idx="1">
                    <c:v>R1→R12</c:v>
                  </c:pt>
                  <c:pt idx="2">
                    <c:v>R2→R12</c:v>
                  </c:pt>
                  <c:pt idx="3">
                    <c:v>R3→R11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89.46</c:v>
                </c:pt>
                <c:pt idx="1">
                  <c:v>50.12</c:v>
                </c:pt>
                <c:pt idx="2">
                  <c:v>73.77</c:v>
                </c:pt>
                <c:pt idx="3">
                  <c:v>50.02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OSPF</c:v>
                </c:pt>
              </c:strCache>
            </c:strRef>
          </c:tx>
          <c:spPr>
            <a:solidFill>
              <a:srgbClr val="C962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R1→R11</c:v>
                  </c:pt>
                  <c:pt idx="1">
                    <c:v>R1→R12</c:v>
                  </c:pt>
                  <c:pt idx="2">
                    <c:v>R2→R12</c:v>
                  </c:pt>
                  <c:pt idx="3">
                    <c:v>R3→R11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75.39</c:v>
                </c:pt>
                <c:pt idx="1">
                  <c:v>74.91</c:v>
                </c:pt>
                <c:pt idx="2">
                  <c:v>75.54</c:v>
                </c:pt>
                <c:pt idx="3">
                  <c:v>75.08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BGP</c:v>
                </c:pt>
              </c:strCache>
            </c:strRef>
          </c:tx>
          <c:spPr>
            <a:solidFill>
              <a:srgbClr val="8C8A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R1→R11</c:v>
                  </c:pt>
                  <c:pt idx="1">
                    <c:v>R1→R12</c:v>
                  </c:pt>
                  <c:pt idx="2">
                    <c:v>R2→R12</c:v>
                  </c:pt>
                  <c:pt idx="3">
                    <c:v>R3→R11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73.11</c:v>
                </c:pt>
                <c:pt idx="1">
                  <c:v>73.4</c:v>
                </c:pt>
                <c:pt idx="2">
                  <c:v>73.77</c:v>
                </c:pt>
                <c:pt idx="3">
                  <c:v>73.34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Best path each tick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R1→R11</c:v>
                  </c:pt>
                  <c:pt idx="1">
                    <c:v>R1→R12</c:v>
                  </c:pt>
                  <c:pt idx="2">
                    <c:v>R2→R12</c:v>
                  </c:pt>
                  <c:pt idx="3">
                    <c:v>R3→R11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95.76</c:v>
                </c:pt>
                <c:pt idx="1">
                  <c:v>96.12</c:v>
                </c:pt>
                <c:pt idx="2">
                  <c:v>95.98</c:v>
                </c:pt>
                <c:pt idx="3">
                  <c:v>96.43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6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review covers the data and modelling half: simulator, dataset, the RIP/OSPF/BGP baselines and the trained Random Forest with its accuracy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AS200 backbone is fast but shared, and it is where congestion episodes happen most. AS300 is slower but quieter and has one 100 Mbps shortcut. Each protocol picks a different route for the same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sees what probes report now, and must predict the true quality the path delivers in the next tick. That makes it a forecasting task under measurement noise, not a formula lookup.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 and test come from different random traffic, so test accuracy measures generalisation to traffic the model has never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MAE 4.7 vs 5.6 for the formula applied to current measurements and 10.3 for linear regression. The formula baseline is strong; the Random Forest improves on it by learning how noisy, trending measurements translate into next-tick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RIP is good for R1→R11 only because the fewest-hop route happens to skip the congested backbone; for R1→R12 and R3→R11 it crosses the 100 Mbps link. Closing this gap is the goal of the recommendation engine in the final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 · 50% PROGRESS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Router Path Selection using Machine Learning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Simulator, dataset, protocol baselines and trained model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github.com/K-RANGARAJAN/smart-path-selector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2377440" cy="2377440"/>
          </a:xfrm>
          <a:prstGeom prst="ellipse">
            <a:avLst/>
          </a:prstGeom>
          <a:solidFill>
            <a:srgbClr val="0E2326"/>
          </a:solidFill>
          <a:ln w="203200">
            <a:solidFill>
              <a:srgbClr val="1734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1188720"/>
            <a:ext cx="2377440" cy="2377440"/>
          </a:xfrm>
          <a:prstGeom prst="blockArc">
            <a:avLst>
              <a:gd name="adj1" fmla="val 16200000"/>
              <a:gd name="adj2" fmla="val 5400000"/>
              <a:gd name="adj3" fmla="val 8000"/>
            </a:avLst>
          </a:prstGeom>
          <a:solidFill>
            <a:srgbClr val="7FD1C7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stands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663440" cy="3246120"/>
          </a:xfrm>
          <a:prstGeom prst="roundRect">
            <a:avLst>
              <a:gd name="adj" fmla="val 225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1956816"/>
            <a:ext cx="237744" cy="23774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56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202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 topology (12 routers, 17 links)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2322576"/>
            <a:ext cx="237744" cy="23774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322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860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&amp; congestion 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" y="2688336"/>
            <a:ext cx="237744" cy="23774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688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6517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/ path metrics, quality score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" y="3054096"/>
            <a:ext cx="237744" cy="23774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54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175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RIP, OSPF, BGP decision logic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" y="3419856"/>
            <a:ext cx="237744" cy="23774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3419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3832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280,000 rows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3232" y="3785616"/>
            <a:ext cx="237744" cy="23774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3785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7490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trained &amp; evaluated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" y="4151376"/>
            <a:ext cx="237744" cy="23774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4151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1148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unit tests passing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94960" y="1280160"/>
            <a:ext cx="3291840" cy="3246120"/>
          </a:xfrm>
          <a:prstGeom prst="roundRect">
            <a:avLst>
              <a:gd name="adj" fmla="val 2254"/>
            </a:avLst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2356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final review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650992" y="1956816"/>
            <a:ext cx="237744" cy="237744"/>
          </a:xfrm>
          <a:prstGeom prst="ellipse">
            <a:avLst/>
          </a:prstGeom>
          <a:solidFill>
            <a:srgbClr val="F6F1EA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35040" y="19202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50992" y="2322576"/>
            <a:ext cx="237744" cy="237744"/>
          </a:xfrm>
          <a:prstGeom prst="ellipse">
            <a:avLst/>
          </a:prstGeom>
          <a:solidFill>
            <a:srgbClr val="F6F1EA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35040" y="22860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routing evaluation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50992" y="2688336"/>
            <a:ext cx="237744" cy="237744"/>
          </a:xfrm>
          <a:prstGeom prst="ellipse">
            <a:avLst/>
          </a:prstGeom>
          <a:solidFill>
            <a:srgbClr val="F6F1EA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35040" y="26517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50992" y="3054096"/>
            <a:ext cx="237744" cy="237744"/>
          </a:xfrm>
          <a:prstGeom prst="ellipse">
            <a:avLst/>
          </a:prstGeom>
          <a:solidFill>
            <a:srgbClr val="F6F1EA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35040" y="3017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 validation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 · 50% progress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ASes, three protocol opinions</a:t>
            </a:r>
            <a:endParaRPr lang="en-US" sz="2800" dirty="0"/>
          </a:p>
        </p:txBody>
      </p:sp>
      <p:pic>
        <p:nvPicPr>
          <p:cNvPr id="4" name="Image 0" descr="/Users/krangarajan/Developer/smart-path-selector/reports/figures/top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5120640" cy="2944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128016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06440" y="1417320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06440" y="1417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1417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hops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175564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R1→R12 via the 100 Mbps R8–R10 link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0" y="2304288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6440" y="2441448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C9621A"/>
          </a:solidFill>
          <a:ln w="12700">
            <a:solidFill>
              <a:srgbClr val="C962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06440" y="24414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2441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277977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R1→R12 via the 10 Gbps AS200 backbone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69280" y="3328416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06440" y="3465576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8C8A3E"/>
          </a:solidFill>
          <a:ln w="12700">
            <a:solidFill>
              <a:srgbClr val="8C8A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06440" y="34655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34655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preference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806440" y="380390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R1→R12 via AS300, the cheaper ISP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 · 50% progress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traffic to a quality score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402336" cy="40233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2801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utilisation u: AR(1) around base load + daily cycle + congestion episodes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02336" cy="40233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0299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metrics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0299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delay ∝ u/(1−u), jitter ∝ queue delay, loss spikes near u ≈ 0.9, spare bandwidth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402336" cy="40233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77977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metrics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7797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adds, loss compounds, jitter in quadrature, bandwidth = bottleneck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402336" cy="40233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5295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35295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measurements: ±8% latency, ±25% jitter, loss from 100 pings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52160" y="128016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0E2326"/>
          </a:solidFill>
          <a:ln w="12700">
            <a:solidFill>
              <a:srgbClr val="0E23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80760" y="14813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score, next tick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080760" y="246888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E-model R-factor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delay, jitter and loss impairments (ITU-T G.107)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√ bandwidth sufficiency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150 Mbps flow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 · 50% progress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280k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2801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8–9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paths per flow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4754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828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seed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(independent)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577840" y="29260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73.0 · median 96.6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 of samples below 60 (degraded)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 · 50% progress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predicts next-tick quality best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8463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280160"/>
            <a:ext cx="3200400" cy="896112"/>
          </a:xfrm>
          <a:prstGeom prst="roundRect">
            <a:avLst>
              <a:gd name="adj" fmla="val 816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0" y="1353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0.897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0" y="2313432"/>
            <a:ext cx="3200400" cy="896112"/>
          </a:xfrm>
          <a:prstGeom prst="roundRect">
            <a:avLst>
              <a:gd name="adj" fmla="val 816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0" y="238658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2862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(quality points)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0" y="3346704"/>
            <a:ext cx="3200400" cy="896112"/>
          </a:xfrm>
          <a:prstGeom prst="roundRect">
            <a:avLst>
              <a:gd name="adj" fmla="val 816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0" y="34198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0.912 ± 0.009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3895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time-blocked CV R²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 · 50% progress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Predictions track reality across the range</a:t>
            </a:r>
            <a:endParaRPr lang="en-US" sz="2800" dirty="0"/>
          </a:p>
        </p:txBody>
      </p:sp>
      <p:pic>
        <p:nvPicPr>
          <p:cNvPr id="4" name="Image 0" descr="/Users/krangarajan/Developer/smart-path-selector/reports/figures/predicted_vs_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776870" cy="3474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paths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162763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cluster at 95–98: the model is confident when paths are clean.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Congested paths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26791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near 5–20 are saturated and 100 Mbps paths; predictions land close by.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Largest errors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37307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path’s state changes sharply before the next tick (error vs. size of change: r = 0.92).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 · 50% progress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and bandwidth matter; hop count doesn’t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46304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0E2326"/>
          </a:solidFill>
          <a:ln w="12700">
            <a:solidFill>
              <a:srgbClr val="0E232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7220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COUNT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19019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26060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metric RIP uses tells the model almost nothing about how a path will perform.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 · 50% progress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protocols leave a large gap to the best path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5778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17920" y="1325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161–395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920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the best path changes in 2,000 ticks — no fixed route can keep up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2788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6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 pts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3383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gap between OSPF and the best path each tick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 · 50% progress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SO FAR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fixes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to learn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55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calibration congested the backbone permanently, so one fixed path was always best.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Retuned loads: backbone usually good, with bursts.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BGP = OSPF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55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protocols initially picked identical routes.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Local preference now favours the cheaper ISP.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MB model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grown trees were too large to ship.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840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Depth/leaf limits: 16 MB, same accuracy.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no-ML baseline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on current measurements already reaches R² 0.876.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840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Kept as a named baseline for honest comparison.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 · 50% progress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FINAL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the model in the routing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6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130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4597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candidates every tick, switch only on a clear win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2148840"/>
            <a:ext cx="384048" cy="38404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2130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evaluation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4597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vs RIP, OSPF, BGP and a non-ML adaptive router on fresh traffic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84048" cy="38404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027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load, path scores and decisions, with congestion injection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91840"/>
            <a:ext cx="384048" cy="38404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 check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6027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real ping / tracert measurements with the model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Router Path Selection using ML — DA 2</dc:title>
  <dc:subject>PptxGenJS Presentation</dc:subject>
  <dc:creator>PptxGenJS</dc:creator>
  <cp:lastModifiedBy>PptxGenJS</cp:lastModifiedBy>
  <cp:revision>1</cp:revision>
  <dcterms:created xsi:type="dcterms:W3CDTF">2026-09-17T16:46:02Z</dcterms:created>
  <dcterms:modified xsi:type="dcterms:W3CDTF">2026-09-17T16:46:02Z</dcterms:modified>
</cp:coreProperties>
</file>