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Mean absolute error on unseen traffic (lower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5F6B7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F6B7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6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 regression</c:v>
                  </c:pt>
                  <c:pt idx="1">
                    <c:v>Formula (no ML)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10.295816491581085</c:v>
                </c:pt>
                <c:pt idx="1">
                  <c:v>5.562411373083701</c:v>
                </c:pt>
                <c:pt idx="2">
                  <c:v>4.6947443616415825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Permutation importance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Hop count</c:v>
                  </c:pt>
                  <c:pt idx="1">
                    <c:v>Loss trend</c:v>
                  </c:pt>
                  <c:pt idx="2">
                    <c:v>Latency trend</c:v>
                  </c:pt>
                  <c:pt idx="3">
                    <c:v>Bottleneck cap.</c:v>
                  </c:pt>
                  <c:pt idx="4">
                    <c:v>Bw trend</c:v>
                  </c:pt>
                  <c:pt idx="5">
                    <c:v>Jitter</c:v>
                  </c:pt>
                  <c:pt idx="6">
                    <c:v>Packet loss</c:v>
                  </c:pt>
                  <c:pt idx="7">
                    <c:v>Available bw</c:v>
                  </c:pt>
                  <c:pt idx="8">
                    <c:v>Latency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0.00014484770845377693</c:v>
                </c:pt>
                <c:pt idx="1">
                  <c:v>0.0008092215302224481</c:v>
                </c:pt>
                <c:pt idx="2">
                  <c:v>0.0033281102403286632</c:v>
                </c:pt>
                <c:pt idx="3">
                  <c:v>0.005264859610434725</c:v>
                </c:pt>
                <c:pt idx="4">
                  <c:v>0.009330441319004424</c:v>
                </c:pt>
                <c:pt idx="5">
                  <c:v>0.04267080206958247</c:v>
                </c:pt>
                <c:pt idx="6">
                  <c:v>0.06057227565533576</c:v>
                </c:pt>
                <c:pt idx="7">
                  <c:v>0.18712738924457145</c:v>
                </c:pt>
                <c:pt idx="8">
                  <c:v>0.27456439399577587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Mean realised quality · 4 flows × 2,000 ticks of unseen traffic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quality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6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6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F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ML</c:v>
                  </c:pt>
                  <c:pt idx="1">
                    <c:v>Greedy (no ML)</c:v>
                  </c:pt>
                  <c:pt idx="2">
                    <c:v>OSPF</c:v>
                  </c:pt>
                  <c:pt idx="3">
                    <c:v>BGP</c:v>
                  </c:pt>
                  <c:pt idx="4">
                    <c:v>RIP</c:v>
                  </c:pt>
                  <c:pt idx="5">
                    <c:v>Oracle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96.953</c:v>
                </c:pt>
                <c:pt idx="1">
                  <c:v>96.69</c:v>
                </c:pt>
                <c:pt idx="2">
                  <c:v>78.334</c:v>
                </c:pt>
                <c:pt idx="3">
                  <c:v>76.671</c:v>
                </c:pt>
                <c:pt idx="4">
                  <c:v>64.653</c:v>
                </c:pt>
                <c:pt idx="5">
                  <c:v>97.303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3"/>
                </a:solidFill>
                <a:latin typeface="Calibri"/>
              </a:defRPr>
            </a:pPr>
            <a:r>
              <a:rPr sz="1100" b="0" i="0" u="none" strike="noStrike">
                <a:solidFill>
                  <a:srgbClr val="1F2933"/>
                </a:solidFill>
                <a:latin typeface="Calibri"/>
              </a:rPr>
              <a:t>Mean quality of flow R1→R12 while R5-R6 is congested (20 runs)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Quality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6C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62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C8A3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F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AA5B1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ML</c:v>
                  </c:pt>
                  <c:pt idx="1">
                    <c:v>Greedy (no ML)</c:v>
                  </c:pt>
                  <c:pt idx="2">
                    <c:v>OSPF</c:v>
                  </c:pt>
                  <c:pt idx="3">
                    <c:v>BGP</c:v>
                  </c:pt>
                  <c:pt idx="4">
                    <c:v>RIP</c:v>
                  </c:pt>
                  <c:pt idx="5">
                    <c:v>Oracle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95.92371714701139</c:v>
                </c:pt>
                <c:pt idx="1">
                  <c:v>95.73234153026223</c:v>
                </c:pt>
                <c:pt idx="2">
                  <c:v>28.723521837080398</c:v>
                </c:pt>
                <c:pt idx="3">
                  <c:v>55.82845106807739</c:v>
                </c:pt>
                <c:pt idx="4">
                  <c:v>43.84027585487631</c:v>
                </c:pt>
                <c:pt idx="5">
                  <c:v>96.6141296899321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6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 count, the one metric RIP uses, contributes essentially nothing (0.0001) to predicting how a path will actually perform.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Near-optimal: realised quality within 1 point of the best candidate at that tick. Oracle route changes show how often the true best path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quality is close: ML 97.0 vs 96.7. Most of the gain over OSPF comes from being measurement-driven at all; the Random Forest adds stability and accuracy, and it learns the quality mapping from data instead of needing a hand-written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running dashboard (python -m smartpath dashboard) and follow docs/demo_script.md.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5852160" y="731520"/>
            <a:ext cx="1097280" cy="3657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731520"/>
            <a:ext cx="1188720" cy="54864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97280"/>
            <a:ext cx="73152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6583680" y="731520"/>
            <a:ext cx="365760" cy="12801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011680"/>
            <a:ext cx="1097280" cy="36576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0" y="1280160"/>
            <a:ext cx="45720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7680960" y="2194560"/>
            <a:ext cx="914400" cy="18288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6035040" y="2011680"/>
            <a:ext cx="548640" cy="9144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0" y="2926080"/>
            <a:ext cx="1188720" cy="4572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7223760" y="2377440"/>
            <a:ext cx="457200" cy="100584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23760" y="3383280"/>
            <a:ext cx="1097280" cy="18288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8321040" y="2194560"/>
            <a:ext cx="274320" cy="1371600"/>
          </a:xfrm>
          <a:prstGeom prst="line">
            <a:avLst/>
          </a:prstGeom>
          <a:noFill/>
          <a:ln w="19050">
            <a:solidFill>
              <a:srgbClr val="2F525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2432" y="9875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39712" y="62179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28432" y="11704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9019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71232" y="226771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20848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25312" y="28163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14032" y="327355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11312" y="3456432"/>
            <a:ext cx="219456" cy="219456"/>
          </a:xfrm>
          <a:prstGeom prst="ellipse">
            <a:avLst/>
          </a:prstGeom>
          <a:solidFill>
            <a:srgbClr val="2F5256"/>
          </a:solidFill>
          <a:ln w="12700">
            <a:solidFill>
              <a:srgbClr val="2F52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731520"/>
            <a:ext cx="1188720" cy="548640"/>
          </a:xfrm>
          <a:prstGeom prst="line">
            <a:avLst/>
          </a:prstGeom>
          <a:noFill/>
          <a:ln w="50800">
            <a:solidFill>
              <a:srgbClr val="D982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621792"/>
            <a:ext cx="219456" cy="21945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28432" y="1170432"/>
            <a:ext cx="219456" cy="219456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1097280"/>
            <a:ext cx="731520" cy="91440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2011680"/>
            <a:ext cx="1097280" cy="36576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>
            <a:off x="7680960" y="2194560"/>
            <a:ext cx="914400" cy="182880"/>
          </a:xfrm>
          <a:prstGeom prst="line">
            <a:avLst/>
          </a:prstGeom>
          <a:noFill/>
          <a:ln w="38100">
            <a:solidFill>
              <a:srgbClr val="7FD1C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24144" y="96926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55664" y="188366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52944" y="224942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2066544"/>
            <a:ext cx="256032" cy="256032"/>
          </a:xfrm>
          <a:prstGeom prst="ellipse">
            <a:avLst/>
          </a:prstGeom>
          <a:solidFill>
            <a:srgbClr val="7FD1C7"/>
          </a:solidFill>
          <a:ln w="12700">
            <a:solidFill>
              <a:srgbClr val="7FD1C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1097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· FULL DEMONSTRATION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14173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Intelligent Router Path Selection using Machine Learning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3017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97.0 path quality vs 78.3 for OSPF on unseen traffic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github.com/K-RANGARAJAN/smart-path-selector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metrics can’t see congestion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35608"/>
            <a:ext cx="402336" cy="402336"/>
          </a:xfrm>
          <a:prstGeom prst="ellipse">
            <a:avLst/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35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3898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3898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count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304288"/>
            <a:ext cx="402336" cy="402336"/>
          </a:xfrm>
          <a:prstGeom prst="ellipse">
            <a:avLst/>
          </a:prstGeom>
          <a:solidFill>
            <a:srgbClr val="C9621A"/>
          </a:solidFill>
          <a:ln w="12700">
            <a:solidFill>
              <a:srgbClr val="C962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22585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OSPF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258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cost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840480" cy="713232"/>
          </a:xfrm>
          <a:prstGeom prst="roundRect">
            <a:avLst>
              <a:gd name="adj" fmla="val 10256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172968"/>
            <a:ext cx="402336" cy="402336"/>
          </a:xfrm>
          <a:prstGeom prst="ellipse">
            <a:avLst/>
          </a:prstGeom>
          <a:solidFill>
            <a:srgbClr val="8C8A3E"/>
          </a:solidFill>
          <a:ln w="12700">
            <a:solidFill>
              <a:srgbClr val="8C8A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72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12724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286000" y="31272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AS path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…none react to live congestion, loss or jitter.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9204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182880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every candidate path, predict its quality next interval, route on the prediction.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31089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regression on latency, bandwidth, loss, jitter, hop count and their trends. Compared head-to-head with RIP, OSPF and BGP on identical traffic.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planned at DA 1 is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10896" cy="3108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routers · 4 ASes · congestion episodes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02536" y="1508760"/>
            <a:ext cx="310896" cy="3108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02536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2" name="Text 10"/>
          <p:cNvSpPr txBox="1"/>
          <p:nvPr/>
        </p:nvSpPr>
        <p:spPr>
          <a:xfrm>
            <a:off x="2002536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002536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 rows, next-tick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73552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0712" y="1508760"/>
            <a:ext cx="310896" cy="310896"/>
          </a:xfrm>
          <a:prstGeom prst="ellipse">
            <a:avLst/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R² 0.897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18888" y="1508760"/>
            <a:ext cx="310896" cy="310896"/>
          </a:xfrm>
          <a:prstGeom prst="ellipse">
            <a:avLst/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18888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818888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predicted path, anti-flapping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9904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7064" y="1508760"/>
            <a:ext cx="310896" cy="3108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27064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6227064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227064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RIP, OSPF, BGP, no-ML, oracle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1371600"/>
            <a:ext cx="1252728" cy="1691640"/>
          </a:xfrm>
          <a:prstGeom prst="roundRect">
            <a:avLst>
              <a:gd name="adj" fmla="val 583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35240" y="1508760"/>
            <a:ext cx="310896" cy="310896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352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7635240" y="1938528"/>
            <a:ext cx="1024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635240" y="2267712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congestion injection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264408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 ms</a:t>
            </a:r>
            <a:endParaRPr lang="en-US" sz="3000" dirty="0"/>
          </a:p>
        </p:txBody>
      </p:sp>
      <p:sp>
        <p:nvSpPr>
          <p:cNvPr id="37" name="Text 35"/>
          <p:cNvSpPr txBox="1"/>
          <p:nvPr/>
        </p:nvSpPr>
        <p:spPr>
          <a:xfrm>
            <a:off x="3264408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score 9 candidate paths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071616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6071616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Tracer parser + validation workflow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network: each protocol disagrees</a:t>
            </a:r>
            <a:endParaRPr lang="en-US" sz="2800" dirty="0"/>
          </a:p>
        </p:txBody>
      </p:sp>
      <p:pic>
        <p:nvPicPr>
          <p:cNvPr id="4" name="Image 0" descr="/Users/krangarajan/Developer/smart-path-selector/reports/figures/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120640" cy="29443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692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R1 → R12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669280" y="160020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6440" y="1801368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6B7FA3"/>
          </a:solidFill>
          <a:ln w="12700">
            <a:solidFill>
              <a:srgbClr val="6B7FA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6440" y="180136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601968" y="167335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hops over the 100 Mbps R8–R10 link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669280" y="24688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2670048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C9621A"/>
          </a:solidFill>
          <a:ln w="12700">
            <a:solidFill>
              <a:srgbClr val="C9621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26700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01968" y="254203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cost: the busy 10 Gbps AS200 backbone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669280" y="333756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3538728"/>
            <a:ext cx="685800" cy="310896"/>
          </a:xfrm>
          <a:prstGeom prst="roundRect">
            <a:avLst>
              <a:gd name="adj" fmla="val 14706"/>
            </a:avLst>
          </a:prstGeom>
          <a:solidFill>
            <a:srgbClr val="8C8A3E"/>
          </a:solidFill>
          <a:ln w="12700">
            <a:solidFill>
              <a:srgbClr val="8C8A3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806440" y="353872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BGP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601968" y="34107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preference: AS300, the cheaper ISP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accurate, and it ignores hop count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49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0.897</a:t>
            </a:r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test  ·  0.912 ± 0.009 in 5-fold CV</a:t>
            </a:r>
            <a:endParaRPr lang="en-US" sz="20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5720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routing nearly matches the hindsight-best path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3350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+18.6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points over OSPF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35040" y="2313432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23682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28163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gap from OSPF to the best possible path closed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035040" y="3346704"/>
            <a:ext cx="2651760" cy="896112"/>
          </a:xfrm>
          <a:prstGeom prst="roundRect">
            <a:avLst>
              <a:gd name="adj" fmla="val 816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34015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849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time degraded (OSPF 19%, RIP 41%)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RESULTS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latency, far less loss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1005840"/>
                <a:gridCol w="1188720"/>
                <a:gridCol w="914400"/>
                <a:gridCol w="1188720"/>
                <a:gridCol w="12801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latency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Near-optimal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changes /1k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7A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1E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E6C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(no ML)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C962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OSPF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C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6B7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(hindsight)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OSPF: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lower mean latency, 83% lower tail latency, 91% less packet loss.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· FLOW R1 → R12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routes ride every congestion episode</a:t>
            </a:r>
            <a:endParaRPr lang="en-US" sz="2800" dirty="0"/>
          </a:p>
        </p:txBody>
      </p:sp>
      <p:pic>
        <p:nvPicPr>
          <p:cNvPr id="4" name="Image 0" descr="/Users/krangarajan/Developer/smart-path-selector/reports/figures/routing_tim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OSPF and BGP collapse to 5–20 whenever their fixed path is congested; RIP is stuck near 60 on its 100 Mbps link. ML stays near 97 by moving away in time.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Congestion drill on the backbone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280160"/>
            <a:ext cx="2651760" cy="1325880"/>
          </a:xfrm>
          <a:prstGeom prst="roundRect">
            <a:avLst>
              <a:gd name="adj" fmla="val 5517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166420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 load on R5-R6 for 40 ticks, 20 independent traffic runs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0E2326"/>
          </a:solidFill>
          <a:ln w="12700">
            <a:solidFill>
              <a:srgbClr val="0E232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ticks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217920" y="3429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ML to leave the link when it was on it (3 of 20 runs; otherwise it was already elsewhere). The episode itself ramps up over 4 ticks.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COMPARISON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it the ML, or just measuring?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no-ML router that plugs current measurements into the quality formula already gets close. What the model adds: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changes per 1,000 decisions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pPr indent="0" marL="0">
              <a:buNone/>
            </a:pPr>
            <a:r>
              <a:rPr lang="en-US" sz="1400" b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indent="0" marL="0">
              <a:buNone/>
            </a:pPr>
            <a:r>
              <a:rPr lang="en-US" sz="2600" b="1" dirty="0">
                <a:solidFill>
                  <a:srgbClr val="8E6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243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1000" b="1" dirty="0">
                <a:solidFill>
                  <a:srgbClr val="8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more stable: less reordering and control-plane churn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9202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47288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picks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47288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97.6</a:t>
            </a:r>
            <a:pPr indent="0" marL="0">
              <a:buNone/>
            </a:pPr>
            <a:r>
              <a:rPr lang="en-US" sz="1400" b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indent="0" marL="0">
              <a:buNone/>
            </a:pPr>
            <a:r>
              <a:rPr lang="en-US" sz="2600" b="1" dirty="0">
                <a:solidFill>
                  <a:srgbClr val="8E6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3447288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1000" b="1" dirty="0">
                <a:solidFill>
                  <a:srgbClr val="8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choosing among close paths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71616" y="1920240"/>
            <a:ext cx="2651760" cy="2514600"/>
          </a:xfrm>
          <a:prstGeom prst="roundRect">
            <a:avLst>
              <a:gd name="adj" fmla="val 2909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54496" y="2057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error (MAE)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54496" y="2560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</a:t>
            </a:r>
            <a:pPr indent="0" marL="0">
              <a:buNone/>
            </a:pPr>
            <a:r>
              <a:rPr lang="en-US" sz="1400" b="1" dirty="0">
                <a:solidFill>
                  <a:srgbClr val="5F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vs  </a:t>
            </a:r>
            <a:pPr indent="0" marL="0">
              <a:buNone/>
            </a:pPr>
            <a:r>
              <a:rPr lang="en-US" sz="2600" b="1" dirty="0">
                <a:solidFill>
                  <a:srgbClr val="8E6C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254496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vs   </a:t>
            </a:r>
            <a:pPr indent="0" marL="0">
              <a:buNone/>
            </a:pPr>
            <a:r>
              <a:rPr lang="en-US" sz="1000" b="1" dirty="0">
                <a:solidFill>
                  <a:srgbClr val="8E6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34747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how noisy, trending probes translate into next-tick quality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</a:t>
            </a:r>
            <a:endParaRPr lang="en-US" sz="2800" dirty="0"/>
          </a:p>
        </p:txBody>
      </p:sp>
      <p:pic>
        <p:nvPicPr>
          <p:cNvPr id="4" name="Image 0" descr="/Users/krangarajan/Developer/smart-path-selector/docs/images/dashboard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298448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5361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strategies route the same live traffic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52160" y="2103120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8521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066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 AS200 backbone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23408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turns red; OSPF’s quality collapses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852160" y="2907792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28712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ML reroute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1455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route moves; event log records it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852160" y="3712464"/>
            <a:ext cx="365760" cy="365760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table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35508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→ predicted → what actually happened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Packet Tracer validation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54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12-router topology; interface bandwidth set so OSPF costs match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075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029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protocols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0428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tracert under RIP and OSPF matches the simulator’s chosen routes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779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0540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ping, tracert, show interfaces per candidate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384048" cy="384048"/>
          </a:xfrm>
          <a:prstGeom prst="ellipse">
            <a:avLst/>
          </a:prstGeom>
          <a:solidFill>
            <a:srgbClr val="0B7A75"/>
          </a:solidFill>
          <a:ln w="12700">
            <a:solidFill>
              <a:srgbClr val="0B7A7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5295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80390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smartpath validate &lt;folder&gt;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25880"/>
          <a:ext cx="393192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40080"/>
                <a:gridCol w="502920"/>
                <a:gridCol w="82296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path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7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ISP-B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 Mbps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 shortcut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 Mbps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AS200 backbone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588 Mbps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4754880" y="2971800"/>
            <a:ext cx="3931920" cy="1325880"/>
          </a:xfrm>
          <a:prstGeom prst="roundRect">
            <a:avLst>
              <a:gd name="adj" fmla="val 5517"/>
            </a:avLst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3355848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files are hand-written in Packet Tracer’s output format to exercise the parser. Packet Tracer can confirm protocol choices, not congestion behaviour.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F6F1EA"/>
          </a:solidFill>
          <a:ln w="12700">
            <a:solidFill>
              <a:srgbClr val="F6F1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traffic; quality score is a modelling choice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routes don’t add load back (no herd effects)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overhead not modelled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end-to-end paths needs SDN / segment routing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link failures or convergence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2353"/>
            </a:avLst>
          </a:prstGeom>
          <a:solidFill>
            <a:srgbClr val="EEF4F3"/>
          </a:solidFill>
          <a:ln w="12700">
            <a:solidFill>
              <a:srgbClr val="EE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7A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96596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feedback and many-flow stability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and protocol convergence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retraining as traffic drifts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controller on Mininet to enforce paths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for multi-flow placement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960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47960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F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on predicted quality beats routing on static metrics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quality (OSPF 78.3)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514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packet loss than OSPF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514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FD1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0.897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on unseen traffic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Router Path Selection using ML — Final Review</dc:title>
  <dc:subject>PptxGenJS Presentation</dc:subject>
  <dc:creator>PptxGenJS</dc:creator>
  <cp:lastModifiedBy>PptxGenJS</cp:lastModifiedBy>
  <cp:revision>1</cp:revision>
  <dcterms:created xsi:type="dcterms:W3CDTF">2026-09-17T17:03:24Z</dcterms:created>
  <dcterms:modified xsi:type="dcterms:W3CDTF">2026-09-17T17:03:24Z</dcterms:modified>
</cp:coreProperties>
</file>